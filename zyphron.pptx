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21" r:id="rId4"/>
    <p:sldMasterId id="2147483941" r:id="rId5"/>
  </p:sldMasterIdLst>
  <p:notesMasterIdLst>
    <p:notesMasterId r:id="rId16"/>
  </p:notesMasterIdLst>
  <p:handoutMasterIdLst>
    <p:handoutMasterId r:id="rId17"/>
  </p:handoutMasterIdLst>
  <p:sldIdLst>
    <p:sldId id="2147479510" r:id="rId6"/>
    <p:sldId id="2147478866" r:id="rId7"/>
    <p:sldId id="2147478862" r:id="rId8"/>
    <p:sldId id="2147478861" r:id="rId9"/>
    <p:sldId id="2147479514" r:id="rId10"/>
    <p:sldId id="2147478864" r:id="rId11"/>
    <p:sldId id="2147478840" r:id="rId12"/>
    <p:sldId id="2147479513" r:id="rId13"/>
    <p:sldId id="2147479512" r:id="rId14"/>
    <p:sldId id="21474788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orient="horz" pos="3480" userDrawn="1">
          <p15:clr>
            <a:srgbClr val="A4A3A4"/>
          </p15:clr>
        </p15:guide>
        <p15:guide id="3" orient="horz" pos="196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0FE45A-7076-C060-3926-02C230FFCD7B}" name="Gartner, David (Cognizant)" initials="GD(" userId="S::930056@cognizant.com::31109c44-657a-4c1f-917c-0cd2083250d2" providerId="AD"/>
  <p188:author id="{8A5BD095-9E65-7BE9-45FB-30FB8BB32066}" name="U V, Suma (Cognizant)" initials="UVS(" userId="S::130507@cognizant.com::4f7947b8-3b59-458a-ab0c-e8875a4c651f" providerId="AD"/>
  <p188:author id="{99F93FB6-C18C-5FBA-5487-DBE9A471B604}" name="Jennifer Kelly" initials="JK" userId="c+VufwqJC72uMbGB6Qy3ESl4lWVfVYW4DP6fjOUmpX4=" providerId="None"/>
  <p188:author id="{AFF83BBF-8DC2-56B1-7D97-F4B62A6558D1}" name="Holsinger, Sophie (Contractor)" initials="H(" userId="qSv0elhcSqVZ6Und2jvxKda9UaW6eolhxm7dQQjF6aw=" providerId="None"/>
  <p188:author id="{0DF45BD4-5C8A-2E2D-FEE5-54A7402B3C0A}" name="Michelle Loeb" initials="ML" userId="y5thoKV0uDjaThbJPgxbMhWQvDJapLNicr5yuEWdci8=" providerId="None"/>
  <p188:author id="{561DB6D9-3341-C508-291F-4E7B425C4BEE}" name="La Cascia, Lynne (Cognizant)" initials="L(" userId="XzsV+nJzGmSCzj+6LOZ0MUrq7QBF9d0P2TCBTjMm7P4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kki Feuerstein" initials="RF" lastIdx="118" clrIdx="0">
    <p:extLst>
      <p:ext uri="{19B8F6BF-5375-455C-9EA6-DF929625EA0E}">
        <p15:presenceInfo xmlns:p15="http://schemas.microsoft.com/office/powerpoint/2012/main" userId="9696b6c1086d6638" providerId="Windows Live"/>
      </p:ext>
    </p:extLst>
  </p:cmAuthor>
  <p:cmAuthor id="2" name="Alex DiMaio" initials="AD" lastIdx="327" clrIdx="1">
    <p:extLst>
      <p:ext uri="{19B8F6BF-5375-455C-9EA6-DF929625EA0E}">
        <p15:presenceInfo xmlns:p15="http://schemas.microsoft.com/office/powerpoint/2012/main" userId="S::adimaio@tenetpartner.onmicrosoft.com::b1481f74-343d-4e6b-b114-ca2ded61f9f6" providerId="AD"/>
      </p:ext>
    </p:extLst>
  </p:cmAuthor>
  <p:cmAuthor id="3" name="Microsoft Office User" initials="MOU" lastIdx="4" clrIdx="2"/>
  <p:cmAuthor id="4" name="Gartner, David (Cognizant)" initials="GD(" lastIdx="61" clrIdx="3">
    <p:extLst>
      <p:ext uri="{19B8F6BF-5375-455C-9EA6-DF929625EA0E}">
        <p15:presenceInfo xmlns:p15="http://schemas.microsoft.com/office/powerpoint/2012/main" userId="S::930056@cognizant.com::31109c44-657a-4c1f-917c-0cd2083250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48"/>
    <a:srgbClr val="05819B"/>
    <a:srgbClr val="0ED1D3"/>
    <a:srgbClr val="E2FDFE"/>
    <a:srgbClr val="26EFE9"/>
    <a:srgbClr val="23ECE7"/>
    <a:srgbClr val="1EE5E2"/>
    <a:srgbClr val="19DEDD"/>
    <a:srgbClr val="16DBDB"/>
    <a:srgbClr val="13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92" d="100"/>
          <a:sy n="92" d="100"/>
        </p:scale>
        <p:origin x="326" y="77"/>
      </p:cViewPr>
      <p:guideLst>
        <p:guide orient="horz" pos="1584"/>
        <p:guide orient="horz" pos="3480"/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658FED-51F9-9B45-B597-1E80080F05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449CD-7629-F94E-AB7C-5B049A15EC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07195-0CC2-A547-89CA-57E183807FC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FED8-4762-F94C-A006-546565DF5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31462-D62C-8C42-B544-F3E0E7018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F4819-B501-CC4D-93F0-10A4E74E0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35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00608-096F-0448-BF1C-AC23D45B3CD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A3903-E1C0-B641-BF09-7903E2AE2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5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0CC5-E31C-45D5-FFE7-A6C4A15B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0CC6C-8F35-FCB5-D02A-08D1A59C2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4D316-D2D6-CA0C-044F-E7A2F920A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3140D-0BFD-6DB6-5FF7-A281BEB9D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466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239A-7ECE-C8B3-E865-5595C503C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7ADB0-7191-D080-D482-8472CB046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25029-1B80-70F9-1D4B-BE2707C1A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4EF7-4DD3-D4F4-A12C-379C22783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34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EA13-AF1A-8B70-96F6-19C21A3D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ED5ED-DB7D-4BC8-B98A-A3CC29696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99350-DAA3-61A8-DC34-58BD693BD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98BFF-E1EC-42C7-6256-DA0762898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50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F66E-23D1-8FD4-6C65-7826EE73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EED11-5708-90FB-D6A0-5DB662548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506FF-8AAC-DEB5-CEE8-9DBF9B861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8EDBF-6D04-5580-12FF-983D5EFA0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056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3903-E1C0-B641-BF09-7903E2AE2EC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83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901EDA-0A40-434A-BA79-2EFA6DFFD26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0012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6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4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78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40" y="3429000"/>
            <a:ext cx="8849360" cy="15001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Attributor name is 16pt Arial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1943100"/>
            <a:ext cx="8849360" cy="997196"/>
          </a:xfrm>
        </p:spPr>
        <p:txBody>
          <a:bodyPr anchor="b" anchorCtr="0"/>
          <a:lstStyle>
            <a:lvl1pPr algn="l" rtl="0" eaLnBrk="1" latinLnBrk="0" hangingPunct="1">
              <a:defRPr lang="en-US" sz="36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statement or quote </a:t>
            </a:r>
            <a:br>
              <a:rPr lang="en-US"/>
            </a:br>
            <a:r>
              <a:rPr lang="en-US"/>
              <a:t>in Arial 36pt bold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0B4EFF-B670-387B-EBF2-318801CE65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4DEEBD-7FD8-B1BF-8875-FF2A60284D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9843C2-5350-C728-A4D6-7EEEACAF75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186"/>
            <a:ext cx="12192000" cy="686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1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6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27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796" r:id="rId2"/>
    <p:sldLayoutId id="2147483797" r:id="rId3"/>
    <p:sldLayoutId id="2147483990" r:id="rId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5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5" r:id="rId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jathhussain31/Data-Age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98.80.64.8:8501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CC2E60-57B6-1161-2BEC-AEB5B3562B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8659" y="3930889"/>
            <a:ext cx="8849360" cy="1500188"/>
          </a:xfrm>
        </p:spPr>
        <p:txBody>
          <a:bodyPr/>
          <a:lstStyle/>
          <a:p>
            <a:r>
              <a:rPr lang="en-US" sz="1800" dirty="0">
                <a:solidFill>
                  <a:srgbClr val="26EFE9"/>
                </a:solidFill>
              </a:rPr>
              <a:t>Idea Title : </a:t>
            </a:r>
            <a:r>
              <a:rPr lang="en-US" sz="1800" dirty="0">
                <a:solidFill>
                  <a:schemeClr val="bg2">
                    <a:lumMod val="95000"/>
                  </a:schemeClr>
                </a:solidFill>
              </a:rPr>
              <a:t>Data Mind Agent</a:t>
            </a:r>
            <a:endParaRPr lang="en-US" sz="1800" dirty="0">
              <a:solidFill>
                <a:srgbClr val="26EFE9"/>
              </a:solidFill>
            </a:endParaRPr>
          </a:p>
          <a:p>
            <a:r>
              <a:rPr lang="en-US" sz="1800" dirty="0">
                <a:solidFill>
                  <a:srgbClr val="26EFE9"/>
                </a:solidFill>
              </a:rPr>
              <a:t>Team Captain Name : </a:t>
            </a:r>
            <a:r>
              <a:rPr lang="en-US" sz="1800" dirty="0" err="1">
                <a:solidFill>
                  <a:schemeClr val="bg2">
                    <a:lumMod val="95000"/>
                  </a:schemeClr>
                </a:solidFill>
              </a:rPr>
              <a:t>Vedha</a:t>
            </a:r>
            <a:r>
              <a:rPr lang="en-US" sz="1800" dirty="0">
                <a:solidFill>
                  <a:schemeClr val="bg2">
                    <a:lumMod val="95000"/>
                  </a:schemeClr>
                </a:solidFill>
              </a:rPr>
              <a:t> Shri k S</a:t>
            </a:r>
          </a:p>
          <a:p>
            <a:r>
              <a:rPr lang="en-US" sz="1800" dirty="0">
                <a:solidFill>
                  <a:srgbClr val="26EFE9"/>
                </a:solidFill>
              </a:rPr>
              <a:t>Team members Names : </a:t>
            </a:r>
            <a:r>
              <a:rPr lang="en-US" sz="1800" dirty="0">
                <a:solidFill>
                  <a:schemeClr val="bg2">
                    <a:lumMod val="95000"/>
                  </a:schemeClr>
                </a:solidFill>
              </a:rPr>
              <a:t>Amjath Hussain S , </a:t>
            </a:r>
            <a:r>
              <a:rPr lang="en-US" sz="1800" dirty="0" err="1">
                <a:solidFill>
                  <a:schemeClr val="bg2">
                    <a:lumMod val="95000"/>
                  </a:schemeClr>
                </a:solidFill>
              </a:rPr>
              <a:t>Prahul</a:t>
            </a:r>
            <a:r>
              <a:rPr lang="en-US" sz="1800" dirty="0">
                <a:solidFill>
                  <a:schemeClr val="bg2">
                    <a:lumMod val="95000"/>
                  </a:schemeClr>
                </a:solidFill>
              </a:rPr>
              <a:t> Sanjay T, Sri Gayathri S</a:t>
            </a:r>
            <a:endParaRPr lang="en-US" sz="1800" dirty="0">
              <a:solidFill>
                <a:srgbClr val="26EFE9"/>
              </a:solidFill>
            </a:endParaRPr>
          </a:p>
          <a:p>
            <a:r>
              <a:rPr lang="en-US" sz="1800" dirty="0">
                <a:solidFill>
                  <a:srgbClr val="26EFE9"/>
                </a:solidFill>
              </a:rPr>
              <a:t>College Name : </a:t>
            </a:r>
            <a:r>
              <a:rPr lang="en-US" sz="1800" dirty="0">
                <a:solidFill>
                  <a:schemeClr val="bg2">
                    <a:lumMod val="95000"/>
                  </a:schemeClr>
                </a:solidFill>
              </a:rPr>
              <a:t>K . Ramakrishnan College Of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5D5327-9268-AC36-16BC-D3D4B4F25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659" y="3089568"/>
            <a:ext cx="9338360" cy="677108"/>
          </a:xfrm>
        </p:spPr>
        <p:txBody>
          <a:bodyPr/>
          <a:lstStyle/>
          <a:p>
            <a:r>
              <a:rPr lang="en-IN" sz="4400" dirty="0">
                <a:solidFill>
                  <a:schemeClr val="bg1"/>
                </a:solidFill>
              </a:rPr>
              <a:t>MVP Presentation </a:t>
            </a:r>
            <a:r>
              <a:rPr lang="en-IN" sz="4400" dirty="0" err="1">
                <a:solidFill>
                  <a:schemeClr val="bg1"/>
                </a:solidFill>
              </a:rPr>
              <a:t>Zyphron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4D593-0A14-7819-33D9-764A6414A6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413F6-478A-A902-39B1-3F8B38F63B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9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658E-EA74-4702-7179-E21A88D3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B8DBEF-A90E-75BD-2BC7-7AFC952C0D9E}"/>
              </a:ext>
            </a:extLst>
          </p:cNvPr>
          <p:cNvSpPr/>
          <p:nvPr/>
        </p:nvSpPr>
        <p:spPr>
          <a:xfrm>
            <a:off x="1" y="20886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DD68C-8495-5A60-1BE1-C5F37EFB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820A1C-385C-1B2C-7EBF-696FA2291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7217ED1-02B9-3398-C290-8D4133CD5DC4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400" dirty="0">
                <a:solidFill>
                  <a:schemeClr val="bg2">
                    <a:lumMod val="95000"/>
                  </a:schemeClr>
                </a:solidFill>
              </a:rPr>
              <a:t>Data Mind Agent</a:t>
            </a:r>
            <a:endParaRPr lang="en-US" sz="2400" dirty="0">
              <a:solidFill>
                <a:srgbClr val="26EFE9"/>
              </a:solidFill>
            </a:endParaRPr>
          </a:p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1EA97-7795-6D51-F716-B94C0F1807E9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96E19-4443-120E-D81A-C7692D38A498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144D771-232B-BF8B-99CB-FE62206D01F0}"/>
              </a:ext>
            </a:extLst>
          </p:cNvPr>
          <p:cNvSpPr/>
          <p:nvPr/>
        </p:nvSpPr>
        <p:spPr>
          <a:xfrm>
            <a:off x="516815" y="1044264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4C65C9D-AA15-5E74-6D9B-F3AD0A55B29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45415" y="2086856"/>
            <a:ext cx="5029200" cy="954825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Enterprises store </a:t>
            </a:r>
            <a:r>
              <a:rPr lang="en-US" sz="1800" b="1" dirty="0"/>
              <a:t>10TB–5PB of Hadoop data</a:t>
            </a:r>
            <a:r>
              <a:rPr lang="en-US" sz="1800" dirty="0"/>
              <a:t> but only SQL-skilled engineers can access it.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80%+ of business users</a:t>
            </a:r>
            <a:r>
              <a:rPr lang="en-US" sz="1800" dirty="0"/>
              <a:t> are locked out of insights.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Gartner (2025): Poor data accessibility costs </a:t>
            </a:r>
            <a:r>
              <a:rPr lang="en-US" sz="1800" b="1" dirty="0"/>
              <a:t>$12.9M/year</a:t>
            </a:r>
            <a:r>
              <a:rPr lang="en-US" sz="1800" dirty="0"/>
              <a:t> in delayed decisions.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Analyst queues cause </a:t>
            </a:r>
            <a:r>
              <a:rPr lang="en-US" sz="1800" b="1" dirty="0"/>
              <a:t>2–3 day delays</a:t>
            </a:r>
            <a:r>
              <a:rPr lang="en-US" sz="1800" dirty="0"/>
              <a:t> for ad-hoc queries.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>
              <a:solidFill>
                <a:srgbClr val="000048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EDC63FB0-4F2F-5940-C47A-29942B42D70B}"/>
              </a:ext>
            </a:extLst>
          </p:cNvPr>
          <p:cNvSpPr/>
          <p:nvPr/>
        </p:nvSpPr>
        <p:spPr>
          <a:xfrm>
            <a:off x="6188785" y="1024939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46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Solution Description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1CEA55F-2FE1-D4B5-990B-70972475C51F}"/>
              </a:ext>
            </a:extLst>
          </p:cNvPr>
          <p:cNvSpPr txBox="1">
            <a:spLocks/>
          </p:cNvSpPr>
          <p:nvPr/>
        </p:nvSpPr>
        <p:spPr>
          <a:xfrm>
            <a:off x="6417385" y="2099236"/>
            <a:ext cx="5029200" cy="9548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b="1" dirty="0" err="1"/>
              <a:t>DataMind</a:t>
            </a:r>
            <a:r>
              <a:rPr lang="en-IN" sz="1800" b="1" dirty="0"/>
              <a:t> Agent</a:t>
            </a:r>
            <a:r>
              <a:rPr lang="en-IN" sz="1800" dirty="0"/>
              <a:t>: AI-powered multi-agent system that translates plain English into HiveQL/</a:t>
            </a:r>
            <a:r>
              <a:rPr lang="en-IN" sz="1800" dirty="0" err="1"/>
              <a:t>SparkSQL</a:t>
            </a:r>
            <a:r>
              <a:rPr lang="en-IN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Executes queries on Hadoop backend and returns </a:t>
            </a:r>
            <a:r>
              <a:rPr lang="en-IN" sz="1800" b="1" dirty="0"/>
              <a:t>interactive charts, tables, and plain-English summaries</a:t>
            </a:r>
            <a:r>
              <a:rPr lang="en-IN" sz="1800" dirty="0"/>
              <a:t> in under 30 seconds.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4-agent pipeline</a:t>
            </a:r>
            <a:r>
              <a:rPr lang="en-IN" sz="1800" dirty="0"/>
              <a:t>: Planner → Executor → Analytics → Visualiser.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Guardrails</a:t>
            </a:r>
            <a:r>
              <a:rPr lang="en-IN" sz="1800" dirty="0"/>
              <a:t>: Blocks unsafe queries, ensures transparency with SQL display.</a:t>
            </a:r>
          </a:p>
          <a:p>
            <a:pPr marL="91440">
              <a:defRPr/>
            </a:pPr>
            <a:endParaRPr lang="en-US" sz="1400" dirty="0">
              <a:solidFill>
                <a:srgbClr val="0000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725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8DD6-6B52-5474-6250-F96E193D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468F1D-9D6A-599A-0443-E1FFE4CFDA8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17DB3-EA65-1A10-EB44-623354548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6F8504-8480-10FB-4507-ACE63C36B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07D3AD-54C1-1F86-6123-0DE94629CA8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400" dirty="0">
                <a:solidFill>
                  <a:schemeClr val="bg2">
                    <a:lumMod val="95000"/>
                  </a:schemeClr>
                </a:solidFill>
              </a:rPr>
              <a:t>Data Mind Agent</a:t>
            </a:r>
            <a:endParaRPr lang="en-US" sz="2400" dirty="0">
              <a:solidFill>
                <a:srgbClr val="26EFE9"/>
              </a:solidFill>
            </a:endParaRPr>
          </a:p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38E29-9EFF-F208-66A5-0D909001F7B8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BDDDEF-C999-7A8D-AE1D-89507AEC2968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525EBED6-B2DB-B91B-284D-B232A7F40575}"/>
              </a:ext>
            </a:extLst>
          </p:cNvPr>
          <p:cNvSpPr/>
          <p:nvPr/>
        </p:nvSpPr>
        <p:spPr>
          <a:xfrm>
            <a:off x="516815" y="1024940"/>
            <a:ext cx="3924300" cy="39266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Uniqueness / Innovativeness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F293E2CD-A5B9-36EA-2CDA-4A9098BC00B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26032" y="2022889"/>
            <a:ext cx="5014368" cy="1127489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Schema-aware grounding</a:t>
            </a:r>
            <a:r>
              <a:rPr lang="en-IN" sz="1800" dirty="0"/>
              <a:t>: LLM always uses live Hive </a:t>
            </a:r>
            <a:r>
              <a:rPr lang="en-IN" sz="1800" dirty="0" err="1"/>
              <a:t>Metastore</a:t>
            </a:r>
            <a:r>
              <a:rPr lang="en-IN" sz="1800" dirty="0"/>
              <a:t> schema.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Write-operation firewall</a:t>
            </a:r>
            <a:r>
              <a:rPr lang="en-IN" sz="1800" dirty="0"/>
              <a:t>: Blocks DDL/DML queries.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Semantic query cache</a:t>
            </a:r>
            <a:r>
              <a:rPr lang="en-IN" sz="1800" dirty="0"/>
              <a:t>: Cuts LLM cost by ~60%.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Confidence scoring</a:t>
            </a:r>
            <a:r>
              <a:rPr lang="en-IN" sz="1800" dirty="0"/>
              <a:t>: SQL-match indicator for user trust.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Purpose-built for </a:t>
            </a:r>
            <a:r>
              <a:rPr lang="en-IN" sz="1800" b="1" dirty="0"/>
              <a:t>Hadoop ecosystems</a:t>
            </a:r>
            <a:r>
              <a:rPr lang="en-IN" sz="1800" dirty="0"/>
              <a:t>, unlike generic BI copilots.</a:t>
            </a:r>
          </a:p>
          <a:p>
            <a:pPr indent="-122238">
              <a:spcBef>
                <a:spcPts val="0"/>
              </a:spcBef>
              <a:defRPr/>
            </a:pP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5185B65-BFBE-8996-BFCB-A93D2E21224C}"/>
              </a:ext>
            </a:extLst>
          </p:cNvPr>
          <p:cNvSpPr/>
          <p:nvPr/>
        </p:nvSpPr>
        <p:spPr>
          <a:xfrm>
            <a:off x="6188785" y="1024939"/>
            <a:ext cx="4522758" cy="414434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>
                <a:solidFill>
                  <a:schemeClr val="bg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Business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 Impact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A194955-6208-156E-96F5-58AEA47DF8BA}"/>
              </a:ext>
            </a:extLst>
          </p:cNvPr>
          <p:cNvSpPr txBox="1">
            <a:spLocks/>
          </p:cNvSpPr>
          <p:nvPr/>
        </p:nvSpPr>
        <p:spPr>
          <a:xfrm>
            <a:off x="6519949" y="2195552"/>
            <a:ext cx="5029200" cy="9548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Query turnaround</a:t>
            </a:r>
            <a:r>
              <a:rPr lang="en-US" sz="1800" dirty="0"/>
              <a:t>: 2–3 days → </a:t>
            </a:r>
            <a:r>
              <a:rPr lang="en-US" sz="1800" b="1" dirty="0"/>
              <a:t>30 seconds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65% reduction</a:t>
            </a:r>
            <a:r>
              <a:rPr lang="en-US" sz="1800" dirty="0"/>
              <a:t> in ad-hoc query tickets.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Saves ~</a:t>
            </a:r>
            <a:r>
              <a:rPr lang="en-US" sz="1800" b="1" dirty="0"/>
              <a:t>15 </a:t>
            </a:r>
            <a:r>
              <a:rPr lang="en-US" sz="1800" b="1" dirty="0" err="1"/>
              <a:t>hrs</a:t>
            </a:r>
            <a:r>
              <a:rPr lang="en-US" sz="1800" b="1" dirty="0"/>
              <a:t>/week per team of 10 users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Enterprise deployment: </a:t>
            </a:r>
            <a:r>
              <a:rPr lang="en-US" sz="1800" b="1" dirty="0"/>
              <a:t>$120K–180K/year analyst time recovered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Faster product decisions → </a:t>
            </a:r>
            <a:r>
              <a:rPr lang="en-US" sz="1800" b="1" dirty="0"/>
              <a:t>8–12% improvement in time-to-insight KPI</a:t>
            </a:r>
            <a:r>
              <a:rPr lang="en-US" sz="1400" dirty="0"/>
              <a:t>.</a:t>
            </a:r>
          </a:p>
          <a:p>
            <a:pPr>
              <a:spcBef>
                <a:spcPts val="0"/>
              </a:spcBef>
            </a:pP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02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1E35-8838-5ED2-C5B6-BF0A77C9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DC7086-439C-EB5A-C32E-4C92E219C031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       </a:t>
            </a:r>
            <a:r>
              <a:rPr lang="en-US" sz="2400" b="1" dirty="0">
                <a:solidFill>
                  <a:schemeClr val="bg2">
                    <a:lumMod val="95000"/>
                  </a:schemeClr>
                </a:solidFill>
              </a:rPr>
              <a:t>Data Mind Agent</a:t>
            </a:r>
            <a:endParaRPr lang="en-US" sz="2400" b="1" dirty="0">
              <a:solidFill>
                <a:srgbClr val="26EFE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5D635-C241-439F-EEBB-4A22AD40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2A3B8E-042C-A09E-7539-8ACE13E39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02EDDE-EE21-402C-78DC-8B80CA95E61F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39F33-AEB3-9831-E36A-CF4583BA7FC1}"/>
              </a:ext>
            </a:extLst>
          </p:cNvPr>
          <p:cNvSpPr txBox="1"/>
          <p:nvPr/>
        </p:nvSpPr>
        <p:spPr>
          <a:xfrm>
            <a:off x="3910009" y="6528876"/>
            <a:ext cx="4206240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** Use additional slides to include other relevant details, as required.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34A70-DDF9-CFF2-F8FA-4E342559EB10}"/>
              </a:ext>
            </a:extLst>
          </p:cNvPr>
          <p:cNvSpPr txBox="1"/>
          <p:nvPr/>
        </p:nvSpPr>
        <p:spPr>
          <a:xfrm>
            <a:off x="516815" y="1350496"/>
            <a:ext cx="11200264" cy="448256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467C894-31FD-77B9-DD8C-EDB961BCFBDC}"/>
              </a:ext>
            </a:extLst>
          </p:cNvPr>
          <p:cNvSpPr/>
          <p:nvPr/>
        </p:nvSpPr>
        <p:spPr>
          <a:xfrm>
            <a:off x="516814" y="1044265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Technical Design and architecture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A4A1186-2DC0-71F3-F90D-A7CEECC535A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15147" y="1955784"/>
            <a:ext cx="10176374" cy="542837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Stack:</a:t>
            </a:r>
            <a:r>
              <a:rPr lang="en-IN" sz="1800" dirty="0"/>
              <a:t> Python 3.10, </a:t>
            </a:r>
            <a:r>
              <a:rPr lang="en-IN" sz="1800" dirty="0" err="1"/>
              <a:t>FastAPI</a:t>
            </a:r>
            <a:r>
              <a:rPr lang="en-IN" sz="1800" dirty="0"/>
              <a:t>, </a:t>
            </a:r>
            <a:r>
              <a:rPr lang="en-IN" sz="1800" dirty="0" err="1"/>
              <a:t>Streamlit</a:t>
            </a:r>
            <a:r>
              <a:rPr lang="en-IN" sz="1800" dirty="0"/>
              <a:t>, </a:t>
            </a:r>
            <a:r>
              <a:rPr lang="en-IN" sz="1800" dirty="0" err="1"/>
              <a:t>DuckDB</a:t>
            </a:r>
            <a:r>
              <a:rPr lang="en-IN" sz="1800" dirty="0"/>
              <a:t> , Hive , </a:t>
            </a:r>
            <a:r>
              <a:rPr lang="en-IN" sz="1800" dirty="0" err="1"/>
              <a:t>Mcp</a:t>
            </a:r>
            <a:r>
              <a:rPr lang="en-IN" sz="1800" dirty="0"/>
              <a:t> Servers &amp; Tools and AWS </a:t>
            </a:r>
            <a:r>
              <a:rPr lang="en-IN" sz="1800" dirty="0" err="1"/>
              <a:t>Sevices</a:t>
            </a:r>
            <a:r>
              <a:rPr lang="en-IN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AWS Services:</a:t>
            </a:r>
            <a:r>
              <a:rPr lang="en-IN" sz="1800" dirty="0"/>
              <a:t> Bedrock (Claude Haiku), S3 (</a:t>
            </a:r>
            <a:r>
              <a:rPr lang="en-IN" sz="1800" dirty="0" err="1"/>
              <a:t>datalake</a:t>
            </a:r>
            <a:r>
              <a:rPr lang="en-IN" sz="1800" dirty="0"/>
              <a:t>), DynamoDB (memory), CloudWatch (observability).</a:t>
            </a:r>
          </a:p>
          <a:p>
            <a:pPr algn="just"/>
            <a:r>
              <a:rPr lang="en-IN" sz="1800" b="1" dirty="0"/>
              <a:t>Workflow:</a:t>
            </a:r>
            <a:endParaRPr lang="en-IN" sz="1800" dirty="0"/>
          </a:p>
          <a:p>
            <a:pPr marL="1208088" lvl="2" indent="-342900" algn="just">
              <a:buFont typeface="+mj-lt"/>
              <a:buAutoNum type="arabicPeriod"/>
            </a:pPr>
            <a:r>
              <a:rPr lang="en-IN" sz="1800" dirty="0"/>
              <a:t>Upload CSV → stored in S3 → loaded into </a:t>
            </a:r>
            <a:r>
              <a:rPr lang="en-IN" sz="1800" dirty="0" err="1"/>
              <a:t>DuckDB</a:t>
            </a:r>
            <a:r>
              <a:rPr lang="en-IN" sz="1800" dirty="0"/>
              <a:t> and Hive.</a:t>
            </a:r>
          </a:p>
          <a:p>
            <a:pPr marL="1208088" lvl="2" indent="-342900" algn="just">
              <a:buFont typeface="+mj-lt"/>
              <a:buAutoNum type="arabicPeriod"/>
            </a:pPr>
            <a:r>
              <a:rPr lang="en-IN" sz="1800" dirty="0"/>
              <a:t> NL → SQL via Bedrock.</a:t>
            </a:r>
          </a:p>
          <a:p>
            <a:pPr marL="1208088" lvl="2" indent="-342900" algn="just">
              <a:buFont typeface="+mj-lt"/>
              <a:buAutoNum type="arabicPeriod"/>
            </a:pPr>
            <a:r>
              <a:rPr lang="en-IN" sz="1800" dirty="0"/>
              <a:t> Guardrails enforce SELECT-only.</a:t>
            </a:r>
          </a:p>
          <a:p>
            <a:pPr marL="1208088" lvl="2" indent="-342900" algn="just">
              <a:buFont typeface="+mj-lt"/>
              <a:buAutoNum type="arabicPeriod"/>
            </a:pPr>
            <a:r>
              <a:rPr lang="en-IN" sz="1800" dirty="0"/>
              <a:t>  Execute → Summarise → Visualise → Save to DynamoDB.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0999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98B01F-1E8E-0744-520D-69A8D47C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Cognizant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E9A5AC-146B-CC9A-D1C5-91B7BCEC5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E26728-FDEC-56BE-5250-1C2B6CA01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90517"/>
            <a:ext cx="8036560" cy="659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824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06B2-2B56-208C-1D8D-A2504C8A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EBD7C2-ABAF-7D0F-B3A2-993B35CBBCB8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59DA6-B2BF-8792-AD1F-23DAFC891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Cognizant 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31B0EF-F52D-5F0F-23C8-716084726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B8E245-4828-3B89-44E7-B5C08C114BE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400" dirty="0">
                <a:solidFill>
                  <a:schemeClr val="bg2">
                    <a:lumMod val="95000"/>
                  </a:schemeClr>
                </a:solidFill>
              </a:rPr>
              <a:t>Data Mind Agent</a:t>
            </a:r>
            <a:endParaRPr lang="en-US" sz="2400" dirty="0">
              <a:solidFill>
                <a:srgbClr val="26EFE9"/>
              </a:solidFill>
            </a:endParaRPr>
          </a:p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A27B2-E9FC-31F0-BBA2-0630D60A0053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2794A1-4959-3DC1-D2F8-05442DC7955A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714BA1E-65C7-7C9C-3F08-0D0484356266}"/>
              </a:ext>
            </a:extLst>
          </p:cNvPr>
          <p:cNvSpPr/>
          <p:nvPr/>
        </p:nvSpPr>
        <p:spPr>
          <a:xfrm>
            <a:off x="516815" y="1044264"/>
            <a:ext cx="4799464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Scalable / Reusable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36AB9FD5-0256-0FA8-A120-BB544705251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31915" y="2132994"/>
            <a:ext cx="5029200" cy="9548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Horizontal scaling</a:t>
            </a:r>
            <a:r>
              <a:rPr lang="en-IN" sz="1400" dirty="0"/>
              <a:t>: Stateless </a:t>
            </a:r>
            <a:r>
              <a:rPr lang="en-IN" sz="1400" dirty="0" err="1"/>
              <a:t>FastAPI</a:t>
            </a:r>
            <a:r>
              <a:rPr lang="en-IN" sz="1400" dirty="0"/>
              <a:t> agents on Kubernetes.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Spark jobs auto-scale</a:t>
            </a:r>
            <a:r>
              <a:rPr lang="en-IN" sz="1400" dirty="0"/>
              <a:t> on YARN/EMR.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Works across </a:t>
            </a:r>
            <a:r>
              <a:rPr lang="en-IN" sz="1400" b="1" dirty="0"/>
              <a:t>1TB–5PB+ data lakes</a:t>
            </a:r>
            <a:r>
              <a:rPr lang="en-IN" sz="1400" dirty="0"/>
              <a:t> without architectural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Reusable for any Hive-compatible schema.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>
              <a:solidFill>
                <a:srgbClr val="000048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5CF91496-85DD-D02F-082E-D49F7DFA647E}"/>
              </a:ext>
            </a:extLst>
          </p:cNvPr>
          <p:cNvSpPr/>
          <p:nvPr/>
        </p:nvSpPr>
        <p:spPr>
          <a:xfrm>
            <a:off x="6188785" y="1024939"/>
            <a:ext cx="4156694" cy="34488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Roadmap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A7FA394-9C18-5BA5-A7E4-5BC0E1FA68C8}"/>
              </a:ext>
            </a:extLst>
          </p:cNvPr>
          <p:cNvSpPr txBox="1">
            <a:spLocks/>
          </p:cNvSpPr>
          <p:nvPr/>
        </p:nvSpPr>
        <p:spPr>
          <a:xfrm>
            <a:off x="6533011" y="2087966"/>
            <a:ext cx="5029200" cy="9548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719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Phase 1 (POC): Basic Working Demo (DONE)</a:t>
            </a:r>
          </a:p>
          <a:p>
            <a:pPr marL="37719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Phase 2 (Integration): Connect System &amp; Add Memory</a:t>
            </a:r>
          </a:p>
          <a:p>
            <a:pPr marL="37719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Phase 3 (Hardening): Make System Strong &amp; Secure</a:t>
            </a:r>
          </a:p>
          <a:p>
            <a:pPr marL="37719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Phase 4 (Pilot): Test with Real Users</a:t>
            </a:r>
          </a:p>
          <a:p>
            <a:pPr marL="37719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Phase 5 (Scale): Grow to Large System</a:t>
            </a:r>
          </a:p>
          <a:p>
            <a:pPr marL="37719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48"/>
                </a:solidFill>
              </a:rPr>
              <a:t>Phase 6 (AI Evolution): Advanced Intelligent System</a:t>
            </a:r>
          </a:p>
        </p:txBody>
      </p:sp>
    </p:spTree>
    <p:extLst>
      <p:ext uri="{BB962C8B-B14F-4D97-AF65-F5344CB8AC3E}">
        <p14:creationId xmlns:p14="http://schemas.microsoft.com/office/powerpoint/2010/main" val="442285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02A26-20BE-A868-1EF4-0D5B5AD7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6582B-619F-8A2F-6721-73ADF246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BFA9A4-82DF-CA0C-6363-02CC5EABC328}"/>
              </a:ext>
            </a:extLst>
          </p:cNvPr>
          <p:cNvSpPr txBox="1">
            <a:spLocks/>
          </p:cNvSpPr>
          <p:nvPr/>
        </p:nvSpPr>
        <p:spPr>
          <a:xfrm>
            <a:off x="633247" y="1408362"/>
            <a:ext cx="8998433" cy="461664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0" dirty="0"/>
              <a:t>We were thrilled to be part of </a:t>
            </a:r>
            <a:r>
              <a:rPr lang="en-US" sz="2000" b="0" dirty="0" err="1"/>
              <a:t>Technoverse</a:t>
            </a:r>
            <a:r>
              <a:rPr lang="en-US" sz="2000" b="0" dirty="0"/>
              <a:t>, as it was our first time traveling for such an exciting and enriching experience.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br>
              <a:rPr lang="en-US" sz="2000" b="0" dirty="0"/>
            </a:br>
            <a:r>
              <a:rPr lang="en-US" sz="2000" b="0" dirty="0"/>
              <a:t>We successfully cleared the first two rounds with confidence, which motivated us even more for the final stage.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br>
              <a:rPr lang="en-US" sz="2000" b="0" dirty="0"/>
            </a:br>
            <a:r>
              <a:rPr lang="en-US" sz="2000" b="0" dirty="0"/>
              <a:t>Traveling from Tamil Nadu to Pune for the third round was a completely new and memorable experience for our team.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br>
              <a:rPr lang="en-US" sz="2000" b="0" dirty="0"/>
            </a:br>
            <a:r>
              <a:rPr lang="en-US" sz="2000" b="0" dirty="0"/>
              <a:t>This hackathon helped us learn new concepts in a calm, focused, and practical environment with excellent organization throughout.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br>
              <a:rPr lang="en-US" sz="2000" b="0" dirty="0"/>
            </a:br>
            <a:r>
              <a:rPr lang="en-US" sz="2000" b="0" dirty="0"/>
              <a:t>It has been a great honor to present our MVP on such a big stage—thank you for this wonderful opportunity.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92409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86BB8-2CB4-278F-18BA-AD8B25FEB956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3441550-BD1A-655E-EA6B-35EFB88BE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Cognizant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7DE9E8-6262-273B-C73B-4A544CE0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79DE8B-0D5A-4CEC-940A-E8EC03E55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655" y="125099"/>
            <a:ext cx="10808209" cy="307777"/>
          </a:xfrm>
        </p:spPr>
        <p:txBody>
          <a:bodyPr/>
          <a:lstStyle/>
          <a:p>
            <a:r>
              <a:rPr lang="en-IN" dirty="0">
                <a:solidFill>
                  <a:schemeClr val="bg2"/>
                </a:solidFill>
              </a:rPr>
              <a:t>GIT HUB REPOSITORY :</a:t>
            </a:r>
            <a:br>
              <a:rPr lang="en-IN" dirty="0">
                <a:solidFill>
                  <a:schemeClr val="bg2"/>
                </a:solidFill>
              </a:rPr>
            </a:br>
            <a:r>
              <a:rPr lang="en-IN" dirty="0">
                <a:solidFill>
                  <a:schemeClr val="bg2"/>
                </a:solidFill>
              </a:rPr>
              <a:t>        </a:t>
            </a:r>
            <a:br>
              <a:rPr lang="en-IN" dirty="0">
                <a:solidFill>
                  <a:schemeClr val="bg2"/>
                </a:solidFill>
              </a:rPr>
            </a:b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0258A-9E5F-08F7-789F-693DEFFE1CB9}"/>
              </a:ext>
            </a:extLst>
          </p:cNvPr>
          <p:cNvSpPr txBox="1"/>
          <p:nvPr/>
        </p:nvSpPr>
        <p:spPr>
          <a:xfrm>
            <a:off x="633247" y="2492494"/>
            <a:ext cx="1157732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hlinkClick r:id="rId3"/>
              </a:rPr>
              <a:t>https://github.com/amjathhussain31/Data-Agent</a:t>
            </a:r>
            <a:endParaRPr lang="en-IN" sz="4000" dirty="0"/>
          </a:p>
          <a:p>
            <a:endParaRPr lang="en-IN" sz="4000" dirty="0"/>
          </a:p>
          <a:p>
            <a:r>
              <a:rPr lang="en-IN" sz="4000" dirty="0"/>
              <a:t>Deployed Link:</a:t>
            </a:r>
          </a:p>
          <a:p>
            <a:endParaRPr lang="en-IN" sz="4000" dirty="0"/>
          </a:p>
          <a:p>
            <a:r>
              <a:rPr lang="en-IN" sz="4000" dirty="0">
                <a:hlinkClick r:id="rId4"/>
              </a:rPr>
              <a:t>http://98.80.64.8:8501</a:t>
            </a:r>
            <a:endParaRPr lang="en-IN" sz="4000" dirty="0"/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952103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9312-CD68-5C9C-0566-BC59C608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F6DC-034A-386C-85C3-E9BFF7BE1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365335"/>
            <a:ext cx="6053327" cy="92333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572D9-700A-7FEC-1F56-7C7C6675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B3EE0-4971-0D8C-F534-22A0ECF9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9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D3E6B1-B08F-36CE-AA34-D14644CD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12064"/>
            <a:ext cx="10808209" cy="490018"/>
          </a:xfrm>
        </p:spPr>
        <p:txBody>
          <a:bodyPr/>
          <a:lstStyle/>
          <a:p>
            <a:pPr>
              <a:defRPr/>
            </a:pPr>
            <a:r>
              <a:rPr lang="en-US" sz="2600" dirty="0">
                <a:solidFill>
                  <a:srgbClr val="191970"/>
                </a:solidFill>
              </a:rPr>
              <a:t>For student’s consumption : </a:t>
            </a:r>
            <a:r>
              <a:rPr lang="en-US" sz="2600" dirty="0" err="1">
                <a:solidFill>
                  <a:srgbClr val="191970"/>
                </a:solidFill>
              </a:rPr>
              <a:t>Technoverse</a:t>
            </a:r>
            <a:r>
              <a:rPr lang="en-US" sz="2600" dirty="0">
                <a:solidFill>
                  <a:srgbClr val="191970"/>
                </a:solidFill>
              </a:rPr>
              <a:t> – MVP Evaluation Criteria</a:t>
            </a:r>
            <a:endParaRPr lang="en-IN" sz="2600" b="0" dirty="0">
              <a:solidFill>
                <a:srgbClr val="19197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BC9E1-D819-BF58-D372-E1E469B82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Gellix"/>
                <a:ea typeface="+mn-ea"/>
                <a:cs typeface="+mn-cs"/>
              </a:rPr>
              <a:t>© 2026 Cognizant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ACD1E-71BE-1E69-E531-6B6A206A3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Gellix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Gellix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BFBCDB-6D14-DFB5-9953-30A1A0714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260852"/>
              </p:ext>
            </p:extLst>
          </p:nvPr>
        </p:nvGraphicFramePr>
        <p:xfrm>
          <a:off x="457197" y="1397453"/>
          <a:ext cx="8567060" cy="375539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409938">
                  <a:extLst>
                    <a:ext uri="{9D8B030D-6E8A-4147-A177-3AD203B41FA5}">
                      <a16:colId xmlns:a16="http://schemas.microsoft.com/office/drawing/2014/main" val="3148574318"/>
                    </a:ext>
                  </a:extLst>
                </a:gridCol>
                <a:gridCol w="6157122">
                  <a:extLst>
                    <a:ext uri="{9D8B030D-6E8A-4147-A177-3AD203B41FA5}">
                      <a16:colId xmlns:a16="http://schemas.microsoft.com/office/drawing/2014/main" val="63350614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Dimension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What is Expected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4242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Problem &amp; Use-Case Clarity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 well-defined, industry-relevant problem statement with a clearly articulated use case aligned to a </a:t>
                      </a:r>
                      <a:r>
                        <a:rPr lang="en-US" sz="1200" u="none" strike="noStrike" dirty="0" err="1">
                          <a:effectLst/>
                        </a:rPr>
                        <a:t>Technoverse</a:t>
                      </a:r>
                      <a:r>
                        <a:rPr lang="en-US" sz="1200" u="none" strike="noStrike" dirty="0">
                          <a:effectLst/>
                        </a:rPr>
                        <a:t> '26 theme.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1559348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MVP Functional Completeness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 fully functional end-to-end MVP with a demonstrable core user journey, handled edge cases, and demo readiness.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7502376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Technical Design &amp; Architecture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 clean, modular, and scalable architecture with documented design decisions and demonstrated scalability considerations.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6664340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Use of AWS / GenAI Capabilities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Thoughtful, value-adding integration of AWS services (Bedrock, Agents, Q, Kiro IDE) where GenAI meaningfully enhances core functionality.</a:t>
                      </a:r>
                      <a:br>
                        <a:rPr lang="en-US" sz="1200" u="none" strike="noStrike" dirty="0">
                          <a:effectLst/>
                        </a:rPr>
                      </a:br>
                      <a:r>
                        <a:rPr lang="en-US" sz="1200" u="none" strike="noStrike" dirty="0">
                          <a:effectLst/>
                        </a:rPr>
                        <a:t>AWS is not mandatory but good if they have used understand its applicability.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66891197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Quality of Demo &amp; Presentation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 crisp, well-structured demo with confident Q&amp;A covering both technical and business perspectives.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1269508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Business Impact &amp; Scalability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 strong business case with a clear deployment path, compelling ROI narrative, and a credible phased roadmap beyond the hackathon.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754408019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905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77112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2.xml><?xml version="1.0" encoding="utf-8"?>
<a:theme xmlns:a="http://schemas.openxmlformats.org/drawingml/2006/main" name="2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E60DD53B08764D9FBA21DBED3214CC" ma:contentTypeVersion="22" ma:contentTypeDescription="Create a new document." ma:contentTypeScope="" ma:versionID="3dd4086fc227d84930da0763be3e0042">
  <xsd:schema xmlns:xsd="http://www.w3.org/2001/XMLSchema" xmlns:xs="http://www.w3.org/2001/XMLSchema" xmlns:p="http://schemas.microsoft.com/office/2006/metadata/properties" xmlns:ns2="0a84972d-ef8c-45a9-9686-55cfd8231be0" xmlns:ns3="1eec79b3-321e-4dfa-8d23-6bc73fc62350" xmlns:ns4="3c35e321-f73a-4dae-ae38-a0459de24735" targetNamespace="http://schemas.microsoft.com/office/2006/metadata/properties" ma:root="true" ma:fieldsID="d8be992cee903fad960eda9f235136ae" ns2:_="" ns3:_="" ns4:_="">
    <xsd:import namespace="0a84972d-ef8c-45a9-9686-55cfd8231be0"/>
    <xsd:import namespace="1eec79b3-321e-4dfa-8d23-6bc73fc62350"/>
    <xsd:import namespace="3c35e321-f73a-4dae-ae38-a0459de247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Source" minOccurs="0"/>
                <xsd:element ref="ns2:MediaServiceBillingMetadata" minOccurs="0"/>
                <xsd:element ref="ns2:M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84972d-ef8c-45a9-9686-55cfd8231b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3b7d1d5-7262-4eb7-85df-493a730aa6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ource" ma:index="27" nillable="true" ma:displayName="Source" ma:format="Dropdown" ma:internalName="Source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M" ma:index="29" nillable="true" ma:displayName="MM" ma:format="DateOnly" ma:internalName="MM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ec79b3-321e-4dfa-8d23-6bc73fc6235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5e321-f73a-4dae-ae38-a0459de24735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4a3e1da5-f246-4675-b38f-a7f514a07e2f}" ma:internalName="TaxCatchAll" ma:showField="CatchAllData" ma:web="1eec79b3-321e-4dfa-8d23-6bc73fc623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urce xmlns="0a84972d-ef8c-45a9-9686-55cfd8231be0" xsi:nil="true"/>
    <MM xmlns="0a84972d-ef8c-45a9-9686-55cfd8231be0" xsi:nil="true"/>
    <_Flow_SignoffStatus xmlns="0a84972d-ef8c-45a9-9686-55cfd8231be0" xsi:nil="true"/>
    <lcf76f155ced4ddcb4097134ff3c332f xmlns="0a84972d-ef8c-45a9-9686-55cfd8231be0">
      <Terms xmlns="http://schemas.microsoft.com/office/infopath/2007/PartnerControls"/>
    </lcf76f155ced4ddcb4097134ff3c332f>
    <TaxCatchAll xmlns="3c35e321-f73a-4dae-ae38-a0459de24735" xsi:nil="true"/>
  </documentManagement>
</p:properties>
</file>

<file path=customXml/itemProps1.xml><?xml version="1.0" encoding="utf-8"?>
<ds:datastoreItem xmlns:ds="http://schemas.openxmlformats.org/officeDocument/2006/customXml" ds:itemID="{3E3E83F0-6E45-4BB2-99A3-73A594F63E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24D5D3-2BE3-4278-95F2-2A2616C3D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84972d-ef8c-45a9-9686-55cfd8231be0"/>
    <ds:schemaRef ds:uri="1eec79b3-321e-4dfa-8d23-6bc73fc62350"/>
    <ds:schemaRef ds:uri="3c35e321-f73a-4dae-ae38-a0459de247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1035EC-6D18-44A4-BB42-C9DEBF2D5983}">
  <ds:schemaRefs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13f2c8c6-9aca-4830-85ce-a55535ee011e"/>
    <ds:schemaRef ds:uri="http://purl.org/dc/terms/"/>
    <ds:schemaRef ds:uri="http://schemas.openxmlformats.org/package/2006/metadata/core-properties"/>
    <ds:schemaRef ds:uri="0a84972d-ef8c-45a9-9686-55cfd8231be0"/>
    <ds:schemaRef ds:uri="3c35e321-f73a-4dae-ae38-a0459de24735"/>
  </ds:schemaRefs>
</ds:datastoreItem>
</file>

<file path=docMetadata/LabelInfo.xml><?xml version="1.0" encoding="utf-8"?>
<clbl:labelList xmlns:clbl="http://schemas.microsoft.com/office/2020/mipLabelMetadata">
  <clbl:label id="{de08c407-19b9-427d-9fe8-edf254300ca7}" enabled="0" method="" siteId="{de08c407-19b9-427d-9fe8-edf254300ca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6520</TotalTime>
  <Words>829</Words>
  <Application>Microsoft Office PowerPoint</Application>
  <PresentationFormat>Widescreen</PresentationFormat>
  <Paragraphs>105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</vt:lpstr>
      <vt:lpstr>Gellix</vt:lpstr>
      <vt:lpstr>Wingdings</vt:lpstr>
      <vt:lpstr>1_Office Theme</vt:lpstr>
      <vt:lpstr>2_Office Theme</vt:lpstr>
      <vt:lpstr>MVP Presentation Zyphron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GIT HUB REPOSITORY :          </vt:lpstr>
      <vt:lpstr>Thank you</vt:lpstr>
      <vt:lpstr>For student’s consumption : Technoverse – MVP Evaluation Criteria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Bluebolt Excellence Awards 2025 FAQ Document</dc:title>
  <dc:subject/>
  <dc:creator>AMJATH HUSSAIN S</dc:creator>
  <cp:keywords/>
  <dc:description/>
  <cp:lastModifiedBy>AMJATH HUSSAIN S</cp:lastModifiedBy>
  <cp:revision>6</cp:revision>
  <dcterms:created xsi:type="dcterms:W3CDTF">2022-04-01T05:31:57Z</dcterms:created>
  <dcterms:modified xsi:type="dcterms:W3CDTF">2026-05-07T05:59:09Z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Rejected By">
    <vt:lpwstr/>
  </property>
  <property fmtid="{D5CDD505-2E9C-101B-9397-08002B2CF9AE}" pid="4" name="Will our competitors be interested in acquiring the information shared in this document?">
    <vt:lpwstr>Little or no chance</vt:lpwstr>
  </property>
  <property fmtid="{D5CDD505-2E9C-101B-9397-08002B2CF9AE}" pid="5" name="Criticality">
    <vt:lpwstr>C3</vt:lpwstr>
  </property>
  <property fmtid="{D5CDD505-2E9C-101B-9397-08002B2CF9AE}" pid="6" name="Last Updated By">
    <vt:lpwstr>717;#717</vt:lpwstr>
  </property>
  <property fmtid="{D5CDD505-2E9C-101B-9397-08002B2CF9AE}" pid="7" name="ContentTypeId">
    <vt:lpwstr>0x010100C0E60DD53B08764D9FBA21DBED3214CC</vt:lpwstr>
  </property>
  <property fmtid="{D5CDD505-2E9C-101B-9397-08002B2CF9AE}" pid="8" name="PreviousFeatured">
    <vt:lpwstr>Approved-False</vt:lpwstr>
  </property>
  <property fmtid="{D5CDD505-2E9C-101B-9397-08002B2CF9AE}" pid="9" name="Approved Date">
    <vt:filetime>2025-12-22T13:28:00Z</vt:filetime>
  </property>
  <property fmtid="{D5CDD505-2E9C-101B-9397-08002B2CF9AE}" pid="10" name="Approved By">
    <vt:lpwstr>717;#717</vt:lpwstr>
  </property>
</Properties>
</file>